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handoutMasterIdLst>
    <p:handoutMasterId r:id="rId14"/>
  </p:handoutMasterIdLst>
  <p:sldIdLst>
    <p:sldId id="256" r:id="rId2"/>
    <p:sldId id="289" r:id="rId3"/>
    <p:sldId id="393" r:id="rId4"/>
    <p:sldId id="394" r:id="rId5"/>
    <p:sldId id="395" r:id="rId6"/>
    <p:sldId id="396" r:id="rId7"/>
    <p:sldId id="389" r:id="rId8"/>
    <p:sldId id="390" r:id="rId9"/>
    <p:sldId id="391" r:id="rId10"/>
    <p:sldId id="392" r:id="rId11"/>
    <p:sldId id="288" r:id="rId1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p:scale>
          <a:sx n="75" d="100"/>
          <a:sy n="75" d="100"/>
        </p:scale>
        <p:origin x="1320" y="63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28/05/2026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28/05/2026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CELIA DE JUAN, ELENA FRUCTUOSO</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841" y="1055740"/>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840" y="1194358"/>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567226"/>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and comment your results</a:t>
            </a:r>
          </a:p>
          <a:p>
            <a:r>
              <a:rPr lang="es-ES" sz="1200" dirty="0">
                <a:latin typeface="Arial" panose="020B0604020202020204" pitchFamily="34" charset="0"/>
                <a:cs typeface="Arial" panose="020B0604020202020204" pitchFamily="34" charset="0"/>
              </a:rPr>
              <a:t>El circuito se ha simulado mediante parámetros S usando la librería SAX. Al fijar una diferencia de camino nula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 = 0), no hay desfase relativo entre los brazos, lo que resulta en un FSR infinito y una respuesta espectral completamente plana.</a:t>
            </a:r>
          </a:p>
          <a:p>
            <a:r>
              <a:rPr lang="es-ES" sz="1200" dirty="0">
                <a:latin typeface="Arial" panose="020B0604020202020204" pitchFamily="34" charset="0"/>
                <a:cs typeface="Arial" panose="020B0604020202020204" pitchFamily="34" charset="0"/>
              </a:rPr>
              <a:t>En este estado de equilibrio perfecto:</a:t>
            </a:r>
          </a:p>
          <a:p>
            <a:r>
              <a:rPr lang="es-ES" sz="1200" b="1" dirty="0">
                <a:latin typeface="Arial" panose="020B0604020202020204" pitchFamily="34" charset="0"/>
                <a:cs typeface="Arial" panose="020B0604020202020204" pitchFamily="34" charset="0"/>
              </a:rPr>
              <a:t>Puerto Cross (H01):</a:t>
            </a:r>
            <a:r>
              <a:rPr lang="es-ES" sz="1200" dirty="0">
                <a:latin typeface="Arial" panose="020B0604020202020204" pitchFamily="34" charset="0"/>
                <a:cs typeface="Arial" panose="020B0604020202020204" pitchFamily="34" charset="0"/>
              </a:rPr>
              <a:t> Interferencia constructiva perfecta (transmisión del 100%, equivalente a 0 dB).</a:t>
            </a:r>
          </a:p>
          <a:p>
            <a:r>
              <a:rPr lang="es-ES" sz="1200" b="1" dirty="0">
                <a:latin typeface="Arial" panose="020B0604020202020204" pitchFamily="34" charset="0"/>
                <a:cs typeface="Arial" panose="020B0604020202020204" pitchFamily="34" charset="0"/>
              </a:rPr>
              <a:t>Puerto Bar (H00):</a:t>
            </a:r>
            <a:r>
              <a:rPr lang="es-ES" sz="1200" dirty="0">
                <a:latin typeface="Arial" panose="020B0604020202020204" pitchFamily="34" charset="0"/>
                <a:cs typeface="Arial" panose="020B0604020202020204" pitchFamily="34" charset="0"/>
              </a:rPr>
              <a:t> Interferencia destructiva total (transmisión nula, alcanzando el límite de ruido numérico en -240 dB).</a:t>
            </a:r>
          </a:p>
        </p:txBody>
      </p:sp>
      <p:sp>
        <p:nvSpPr>
          <p:cNvPr id="6" name="Rectángulo 5">
            <a:extLst>
              <a:ext uri="{FF2B5EF4-FFF2-40B4-BE49-F238E27FC236}">
                <a16:creationId xmlns:a16="http://schemas.microsoft.com/office/drawing/2014/main" id="{82AE4A84-532D-D50D-F368-79FF1C11E97A}"/>
              </a:ext>
            </a:extLst>
          </p:cNvPr>
          <p:cNvSpPr/>
          <p:nvPr/>
        </p:nvSpPr>
        <p:spPr>
          <a:xfrm>
            <a:off x="609882" y="1055740"/>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636" y="2131673"/>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pic>
        <p:nvPicPr>
          <p:cNvPr id="10" name="Imagen 9">
            <a:extLst>
              <a:ext uri="{FF2B5EF4-FFF2-40B4-BE49-F238E27FC236}">
                <a16:creationId xmlns:a16="http://schemas.microsoft.com/office/drawing/2014/main" id="{30469BF4-090C-E6C3-93FF-C42A2E678957}"/>
              </a:ext>
            </a:extLst>
          </p:cNvPr>
          <p:cNvPicPr>
            <a:picLocks noChangeAspect="1"/>
          </p:cNvPicPr>
          <p:nvPr/>
        </p:nvPicPr>
        <p:blipFill>
          <a:blip r:embed="rId4"/>
          <a:stretch>
            <a:fillRect/>
          </a:stretch>
        </p:blipFill>
        <p:spPr>
          <a:xfrm>
            <a:off x="1143000" y="1088151"/>
            <a:ext cx="4267200" cy="3186896"/>
          </a:xfrm>
          <a:prstGeom prst="rect">
            <a:avLst/>
          </a:prstGeom>
        </p:spPr>
      </p:pic>
    </p:spTree>
    <p:extLst>
      <p:ext uri="{BB962C8B-B14F-4D97-AF65-F5344CB8AC3E}">
        <p14:creationId xmlns:p14="http://schemas.microsoft.com/office/powerpoint/2010/main" val="1313507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76841" y="1033857"/>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840" y="1172475"/>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dirty="0"/>
              <a:t>HINTS</a:t>
            </a:r>
            <a:r>
              <a:rPr lang="en-US" b="1" dirty="0"/>
              <a:t>: </a:t>
            </a:r>
          </a:p>
          <a:p>
            <a:pPr marL="0" indent="0" algn="just">
              <a:buNone/>
            </a:pPr>
            <a:r>
              <a:rPr lang="en-US" dirty="0" err="1"/>
              <a:t>wvl</a:t>
            </a:r>
            <a:r>
              <a:rPr lang="en-US" dirty="0"/>
              <a:t> [1500-1600] step 0.001</a:t>
            </a:r>
          </a:p>
          <a:p>
            <a:pPr algn="just"/>
            <a:r>
              <a:rPr lang="en-US" dirty="0"/>
              <a:t>dL = </a:t>
            </a:r>
            <a:r>
              <a:rPr lang="en-US" dirty="0">
                <a:latin typeface="Arial" panose="020B0604020202020204" pitchFamily="34" charset="0"/>
                <a:cs typeface="Arial" panose="020B0604020202020204" pitchFamily="34" charset="0"/>
                <a:sym typeface="Wingdings" pitchFamily="2" charset="2"/>
              </a:rPr>
              <a:t>100 µm</a:t>
            </a:r>
            <a:endParaRPr lang="en-US" dirty="0"/>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0C41089-061E-9B39-3904-6F31AFE073B8}"/>
              </a:ext>
            </a:extLst>
          </p:cNvPr>
          <p:cNvSpPr txBox="1"/>
          <p:nvPr/>
        </p:nvSpPr>
        <p:spPr>
          <a:xfrm>
            <a:off x="609441" y="4561132"/>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which is the FSR? How is it related to the length difference among arms? </a:t>
            </a:r>
          </a:p>
          <a:p>
            <a:pPr algn="just"/>
            <a:r>
              <a:rPr lang="en-US" sz="1200" dirty="0">
                <a:latin typeface="Arial" panose="020B0604020202020204" pitchFamily="34" charset="0"/>
                <a:cs typeface="Arial" panose="020B0604020202020204" pitchFamily="34" charset="0"/>
              </a:rPr>
              <a:t>La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transferencia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no es plana, </a:t>
            </a:r>
            <a:r>
              <a:rPr lang="en-US" sz="1200" dirty="0" err="1">
                <a:latin typeface="Arial" panose="020B0604020202020204" pitchFamily="34" charset="0"/>
                <a:cs typeface="Arial" panose="020B0604020202020204" pitchFamily="34" charset="0"/>
              </a:rPr>
              <a:t>ahora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presenta</a:t>
            </a:r>
            <a:r>
              <a:rPr lang="en-US" sz="1200" dirty="0">
                <a:latin typeface="Arial" panose="020B0604020202020204" pitchFamily="34" charset="0"/>
                <a:cs typeface="Arial" panose="020B0604020202020204" pitchFamily="34" charset="0"/>
              </a:rPr>
              <a:t> un patron de </a:t>
            </a:r>
            <a:r>
              <a:rPr lang="en-US" sz="1200" dirty="0" err="1">
                <a:latin typeface="Arial" panose="020B0604020202020204" pitchFamily="34" charset="0"/>
                <a:cs typeface="Arial" panose="020B0604020202020204" pitchFamily="34" charset="0"/>
              </a:rPr>
              <a:t>interferencia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periódico</a:t>
            </a:r>
            <a:r>
              <a:rPr lang="en-US" sz="1200" dirty="0">
                <a:latin typeface="Arial" panose="020B0604020202020204" pitchFamily="34" charset="0"/>
                <a:cs typeface="Arial" panose="020B0604020202020204" pitchFamily="34" charset="0"/>
              </a:rPr>
              <a:t> sinusoidal. Las dos </a:t>
            </a:r>
            <a:r>
              <a:rPr lang="en-US" sz="1200" dirty="0" err="1">
                <a:latin typeface="Arial" panose="020B0604020202020204" pitchFamily="34" charset="0"/>
                <a:cs typeface="Arial" panose="020B0604020202020204" pitchFamily="34" charset="0"/>
              </a:rPr>
              <a:t>salidas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desfasadas</a:t>
            </a:r>
            <a:r>
              <a:rPr lang="en-US" sz="1200" dirty="0">
                <a:latin typeface="Arial" panose="020B0604020202020204" pitchFamily="34" charset="0"/>
                <a:cs typeface="Arial" panose="020B0604020202020204" pitchFamily="34" charset="0"/>
              </a:rPr>
              <a:t> 180º: </a:t>
            </a:r>
            <a:r>
              <a:rPr lang="en-US" sz="1200" dirty="0" err="1">
                <a:latin typeface="Arial" panose="020B0604020202020204" pitchFamily="34" charset="0"/>
                <a:cs typeface="Arial" panose="020B0604020202020204" pitchFamily="34" charset="0"/>
              </a:rPr>
              <a:t>cuando</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puerto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alcanza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transmission </a:t>
            </a:r>
            <a:r>
              <a:rPr lang="en-US" sz="1200" dirty="0" err="1">
                <a:latin typeface="Arial" panose="020B0604020202020204" pitchFamily="34" charset="0"/>
                <a:cs typeface="Arial" panose="020B0604020202020204" pitchFamily="34" charset="0"/>
              </a:rPr>
              <a:t>máxima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llega</a:t>
            </a:r>
            <a:r>
              <a:rPr lang="en-US" sz="1200" dirty="0">
                <a:latin typeface="Arial" panose="020B0604020202020204" pitchFamily="34" charset="0"/>
                <a:cs typeface="Arial" panose="020B0604020202020204" pitchFamily="34" charset="0"/>
              </a:rPr>
              <a:t> a un punto de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nula</a:t>
            </a:r>
            <a:r>
              <a:rPr lang="en-US" sz="1200" dirty="0">
                <a:latin typeface="Arial" panose="020B0604020202020204" pitchFamily="34" charset="0"/>
                <a:cs typeface="Arial" panose="020B0604020202020204" pitchFamily="34" charset="0"/>
              </a:rPr>
              <a:t>. El FSR es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entre dos </a:t>
            </a:r>
            <a:r>
              <a:rPr lang="en-US" sz="1200" dirty="0" err="1">
                <a:latin typeface="Arial" panose="020B0604020202020204" pitchFamily="34" charset="0"/>
                <a:cs typeface="Arial" panose="020B0604020202020204" pitchFamily="34" charset="0"/>
              </a:rPr>
              <a:t>valles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adyacentes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transferencia</a:t>
            </a:r>
            <a:r>
              <a:rPr lang="en-US" sz="1200" dirty="0">
                <a:latin typeface="Arial" panose="020B0604020202020204" pitchFamily="34" charset="0"/>
                <a:cs typeface="Arial" panose="020B0604020202020204" pitchFamily="34" charset="0"/>
              </a:rPr>
              <a:t>. El FSR es </a:t>
            </a:r>
            <a:r>
              <a:rPr lang="en-US" sz="1200" dirty="0" err="1">
                <a:latin typeface="Arial" panose="020B0604020202020204" pitchFamily="34" charset="0"/>
                <a:cs typeface="Arial" panose="020B0604020202020204" pitchFamily="34" charset="0"/>
              </a:rPr>
              <a:t>inversamente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proporcional</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brazos</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interferómetro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Show a numeric calculation of the FSR and length difference matching the results in the graph,</a:t>
            </a:r>
          </a:p>
          <a:p>
            <a:pPr algn="just"/>
            <a:r>
              <a:rPr lang="en-US" sz="1200" dirty="0" err="1">
                <a:latin typeface="Arial" panose="020B0604020202020204" pitchFamily="34" charset="0"/>
                <a:cs typeface="Arial" panose="020B0604020202020204" pitchFamily="34" charset="0"/>
              </a:rPr>
              <a:t>Utilizando</a:t>
            </a:r>
            <a:r>
              <a:rPr lang="en-US" sz="1200" dirty="0">
                <a:latin typeface="Arial" panose="020B0604020202020204" pitchFamily="34" charset="0"/>
                <a:cs typeface="Arial" panose="020B0604020202020204" pitchFamily="34" charset="0"/>
              </a:rPr>
              <a:t> la formula: </a:t>
            </a:r>
            <a:r>
              <a:rPr lang="en-US" sz="1200" dirty="0">
                <a:latin typeface="Arial"/>
                <a:ea typeface="+mn-lt"/>
                <a:cs typeface="Arial"/>
              </a:rPr>
              <a:t>FSR = λ² / (ng · ΔL) </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 1550 nm,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distancia</a:t>
            </a:r>
            <a:r>
              <a:rPr lang="en-US" sz="1200" dirty="0">
                <a:latin typeface="Arial" panose="020B0604020202020204" pitchFamily="34" charset="0"/>
                <a:cs typeface="Arial" panose="020B0604020202020204" pitchFamily="34" charset="0"/>
              </a:rPr>
              <a:t> de 100 um y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grupo</a:t>
            </a:r>
            <a:r>
              <a:rPr lang="en-US" sz="1200" dirty="0">
                <a:latin typeface="Arial" panose="020B0604020202020204" pitchFamily="34" charset="0"/>
                <a:cs typeface="Arial" panose="020B0604020202020204" pitchFamily="34" charset="0"/>
              </a:rPr>
              <a:t> de 2,0, </a:t>
            </a:r>
            <a:r>
              <a:rPr lang="en-US" sz="1200" dirty="0" err="1">
                <a:latin typeface="Arial" panose="020B0604020202020204" pitchFamily="34" charset="0"/>
                <a:cs typeface="Arial" panose="020B0604020202020204" pitchFamily="34" charset="0"/>
              </a:rPr>
              <a:t>obtenemos</a:t>
            </a:r>
            <a:r>
              <a:rPr lang="en-US" sz="1200" dirty="0">
                <a:latin typeface="Arial" panose="020B0604020202020204" pitchFamily="34" charset="0"/>
                <a:cs typeface="Arial" panose="020B0604020202020204" pitchFamily="34" charset="0"/>
              </a:rPr>
              <a:t> un FSR de 12 nm </a:t>
            </a:r>
            <a:r>
              <a:rPr lang="en-US" sz="1200" dirty="0" err="1">
                <a:latin typeface="Arial" panose="020B0604020202020204" pitchFamily="34" charset="0"/>
                <a:cs typeface="Arial" panose="020B0604020202020204" pitchFamily="34" charset="0"/>
              </a:rPr>
              <a:t>aproximadamente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coincide con la </a:t>
            </a:r>
            <a:r>
              <a:rPr lang="en-US" sz="1200" dirty="0" err="1">
                <a:latin typeface="Arial" panose="020B0604020202020204" pitchFamily="34" charset="0"/>
                <a:cs typeface="Arial" panose="020B0604020202020204" pitchFamily="34" charset="0"/>
              </a:rPr>
              <a:t>medida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observaba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95B976F-6522-EA3D-1323-5C97E9F88EDF}"/>
              </a:ext>
            </a:extLst>
          </p:cNvPr>
          <p:cNvSpPr/>
          <p:nvPr/>
        </p:nvSpPr>
        <p:spPr>
          <a:xfrm>
            <a:off x="609882" y="1033857"/>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636" y="2109790"/>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pic>
        <p:nvPicPr>
          <p:cNvPr id="10" name="Imagen 9">
            <a:extLst>
              <a:ext uri="{FF2B5EF4-FFF2-40B4-BE49-F238E27FC236}">
                <a16:creationId xmlns:a16="http://schemas.microsoft.com/office/drawing/2014/main" id="{0E8870DB-3624-26E3-9D2B-4F4964E22085}"/>
              </a:ext>
            </a:extLst>
          </p:cNvPr>
          <p:cNvPicPr>
            <a:picLocks noChangeAspect="1"/>
          </p:cNvPicPr>
          <p:nvPr/>
        </p:nvPicPr>
        <p:blipFill>
          <a:blip r:embed="rId4"/>
          <a:stretch>
            <a:fillRect/>
          </a:stretch>
        </p:blipFill>
        <p:spPr>
          <a:xfrm>
            <a:off x="1066800" y="1152273"/>
            <a:ext cx="4109602" cy="3069196"/>
          </a:xfrm>
          <a:prstGeom prst="rect">
            <a:avLst/>
          </a:prstGeom>
        </p:spPr>
      </p:pic>
    </p:spTree>
    <p:extLst>
      <p:ext uri="{BB962C8B-B14F-4D97-AF65-F5344CB8AC3E}">
        <p14:creationId xmlns:p14="http://schemas.microsoft.com/office/powerpoint/2010/main" val="3945271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r>
              <a:rPr lang="en-US" sz="1200" dirty="0">
                <a:latin typeface="Arial" panose="020B0604020202020204" pitchFamily="34" charset="0"/>
                <a:cs typeface="Arial" panose="020B0604020202020204" pitchFamily="34" charset="0"/>
              </a:rPr>
              <a:t>El </a:t>
            </a:r>
            <a:r>
              <a:rPr lang="en-US" sz="1200" dirty="0" err="1">
                <a:latin typeface="Arial" panose="020B0604020202020204" pitchFamily="34" charset="0"/>
                <a:cs typeface="Arial" panose="020B0604020202020204" pitchFamily="34" charset="0"/>
              </a:rPr>
              <a:t>diseño</a:t>
            </a:r>
            <a:r>
              <a:rPr lang="en-US" sz="1200" dirty="0">
                <a:latin typeface="Arial" panose="020B0604020202020204" pitchFamily="34" charset="0"/>
                <a:cs typeface="Arial" panose="020B0604020202020204" pitchFamily="34" charset="0"/>
              </a:rPr>
              <a:t> de un MZI con un FSR tan </a:t>
            </a:r>
            <a:r>
              <a:rPr lang="en-US" sz="1200" dirty="0" err="1">
                <a:latin typeface="Arial" panose="020B0604020202020204" pitchFamily="34" charset="0"/>
                <a:cs typeface="Arial" panose="020B0604020202020204" pitchFamily="34" charset="0"/>
              </a:rPr>
              <a:t>reducido</a:t>
            </a:r>
            <a:r>
              <a:rPr lang="en-US" sz="1200" dirty="0">
                <a:latin typeface="Arial" panose="020B0604020202020204" pitchFamily="34" charset="0"/>
                <a:cs typeface="Arial" panose="020B0604020202020204" pitchFamily="34" charset="0"/>
              </a:rPr>
              <a:t> (2 nm) </a:t>
            </a:r>
            <a:r>
              <a:rPr lang="en-US" sz="1200" dirty="0" err="1">
                <a:latin typeface="Arial" panose="020B0604020202020204" pitchFamily="34" charset="0"/>
                <a:cs typeface="Arial" panose="020B0604020202020204" pitchFamily="34" charset="0"/>
              </a:rPr>
              <a:t>exige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gran </a:t>
            </a:r>
            <a:r>
              <a:rPr lang="en-US" sz="1200" dirty="0" err="1">
                <a:latin typeface="Arial" panose="020B0604020202020204" pitchFamily="34" charset="0"/>
                <a:cs typeface="Arial" panose="020B0604020202020204" pitchFamily="34" charset="0"/>
              </a:rPr>
              <a:t>asimetría</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brazos</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interferómetro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requiriendo</a:t>
            </a:r>
            <a:r>
              <a:rPr lang="en-US" sz="1200" dirty="0">
                <a:latin typeface="Arial" panose="020B0604020202020204" pitchFamily="34" charset="0"/>
                <a:cs typeface="Arial" panose="020B0604020202020204" pitchFamily="34" charset="0"/>
              </a:rPr>
              <a:t> un </a:t>
            </a:r>
            <a:r>
              <a:rPr lang="en-US" sz="1200" dirty="0">
                <a:latin typeface="Arial" panose="020B0604020202020204" pitchFamily="34" charset="0"/>
                <a:ea typeface="+mn-lt"/>
                <a:cs typeface="Arial" panose="020B0604020202020204" pitchFamily="34" charset="0"/>
              </a:rPr>
              <a:t>Δ</a:t>
            </a:r>
            <a:r>
              <a:rPr lang="en-US" sz="1200" dirty="0">
                <a:latin typeface="Arial" panose="020B0604020202020204" pitchFamily="34" charset="0"/>
                <a:cs typeface="Arial" panose="020B0604020202020204" pitchFamily="34" charset="0"/>
              </a:rPr>
              <a:t>L de 600.625 um.</a:t>
            </a:r>
          </a:p>
          <a:p>
            <a:pPr algn="just"/>
            <a:r>
              <a:rPr lang="en-US" sz="1200" dirty="0">
                <a:latin typeface="Arial" panose="020B0604020202020204" pitchFamily="34" charset="0"/>
                <a:cs typeface="Arial" panose="020B0604020202020204" pitchFamily="34" charset="0"/>
              </a:rPr>
              <a:t>Al </a:t>
            </a:r>
            <a:r>
              <a:rPr lang="en-US" sz="1200" dirty="0" err="1">
                <a:latin typeface="Arial" panose="020B0604020202020204" pitchFamily="34" charset="0"/>
                <a:cs typeface="Arial" panose="020B0604020202020204" pitchFamily="34" charset="0"/>
              </a:rPr>
              <a:t>simular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transferencia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muestra</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patrón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denso</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pero la vista en detalle (zoom) confirma visualmente la separación exacta de 2 nm y que las salidas son perfectamente complementarias</a:t>
            </a:r>
            <a:r>
              <a:rPr lang="es-ES" sz="1200" dirty="0"/>
              <a:t>.</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logarítmica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relación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extinción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sigue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siendo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altísima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validando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acopladores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ideales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mantienen</a:t>
            </a:r>
            <a:r>
              <a:rPr lang="en-US" sz="1200" dirty="0">
                <a:latin typeface="Arial" panose="020B0604020202020204" pitchFamily="34" charset="0"/>
                <a:cs typeface="Arial" panose="020B0604020202020204" pitchFamily="34" charset="0"/>
              </a:rPr>
              <a:t> un balance de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perfecto sin </a:t>
            </a:r>
            <a:r>
              <a:rPr lang="en-US" sz="1200" dirty="0" err="1">
                <a:latin typeface="Arial" panose="020B0604020202020204" pitchFamily="34" charset="0"/>
                <a:cs typeface="Arial" panose="020B0604020202020204" pitchFamily="34" charset="0"/>
              </a:rPr>
              <a:t>importar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introducida</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 </a:t>
            </a: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046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305711" y="2494307"/>
            <a:ext cx="2494977" cy="1015663"/>
          </a:xfrm>
          <a:prstGeom prst="rect">
            <a:avLst/>
          </a:prstGeom>
          <a:noFill/>
        </p:spPr>
        <p:txBody>
          <a:bodyPr wrap="none" rtlCol="0">
            <a:spAutoFit/>
          </a:bodyPr>
          <a:lstStyle/>
          <a:p>
            <a:pPr algn="ctr"/>
            <a:r>
              <a:rPr lang="es-ES" sz="2000" dirty="0"/>
              <a:t>MZI transfer </a:t>
            </a:r>
            <a:r>
              <a:rPr lang="es-ES" sz="2000" dirty="0" err="1"/>
              <a:t>functions</a:t>
            </a:r>
            <a:endParaRPr lang="en-US" sz="2000" dirty="0"/>
          </a:p>
          <a:p>
            <a:pPr algn="ctr"/>
            <a:endParaRPr lang="en-US" sz="2000" dirty="0"/>
          </a:p>
          <a:p>
            <a:pPr algn="ctr"/>
            <a:r>
              <a:rPr lang="en-US" sz="2000" dirty="0"/>
              <a:t>Paste plot here</a:t>
            </a:r>
          </a:p>
        </p:txBody>
      </p:sp>
      <p:sp>
        <p:nvSpPr>
          <p:cNvPr id="3" name="Rectángulo 2">
            <a:extLst>
              <a:ext uri="{FF2B5EF4-FFF2-40B4-BE49-F238E27FC236}">
                <a16:creationId xmlns:a16="http://schemas.microsoft.com/office/drawing/2014/main" id="{5FB43DF1-4048-35BF-BD58-4BF2A341D2EF}"/>
              </a:ext>
            </a:extLst>
          </p:cNvPr>
          <p:cNvSpPr/>
          <p:nvPr/>
        </p:nvSpPr>
        <p:spPr>
          <a:xfrm>
            <a:off x="9258299" y="1418373"/>
            <a:ext cx="255226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dirty="0">
                <a:solidFill>
                  <a:schemeClr val="tx1"/>
                </a:solidFill>
                <a:latin typeface="Arial" panose="020B0604020202020204" pitchFamily="34" charset="0"/>
                <a:cs typeface="Arial" panose="020B0604020202020204" pitchFamily="34" charset="0"/>
              </a:rPr>
              <a:t>Hints:</a:t>
            </a:r>
            <a:endParaRPr lang="en-US" dirty="0">
              <a:solidFill>
                <a:schemeClr val="tx1"/>
              </a:solidFill>
              <a:latin typeface="Arial" panose="020B0604020202020204" pitchFamily="34" charset="0"/>
              <a:cs typeface="Arial" panose="020B0604020202020204" pitchFamily="34" charset="0"/>
            </a:endParaRPr>
          </a:p>
          <a:p>
            <a:pPr algn="just"/>
            <a:r>
              <a:rPr lang="en-US" dirty="0" err="1">
                <a:solidFill>
                  <a:schemeClr val="tx1"/>
                </a:solidFill>
                <a:latin typeface="Arial" panose="020B0604020202020204" pitchFamily="34" charset="0"/>
                <a:cs typeface="Arial" panose="020B0604020202020204" pitchFamily="34" charset="0"/>
                <a:sym typeface="Wingdings" pitchFamily="2" charset="2"/>
              </a:rPr>
              <a:t>wvl</a:t>
            </a:r>
            <a:r>
              <a:rPr lang="en-US"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dL = ? µm </a:t>
            </a:r>
            <a:r>
              <a:rPr lang="en-US" b="1" dirty="0">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Ka = </a:t>
            </a:r>
            <a:r>
              <a:rPr lang="en-US" dirty="0" err="1">
                <a:solidFill>
                  <a:schemeClr val="tx1"/>
                </a:solidFill>
                <a:latin typeface="Arial" panose="020B0604020202020204" pitchFamily="34" charset="0"/>
                <a:cs typeface="Arial" panose="020B0604020202020204" pitchFamily="34" charset="0"/>
                <a:sym typeface="Wingdings" pitchFamily="2" charset="2"/>
              </a:rPr>
              <a:t>Kb</a:t>
            </a:r>
            <a:r>
              <a:rPr lang="en-US" dirty="0">
                <a:solidFill>
                  <a:schemeClr val="tx1"/>
                </a:solidFill>
                <a:latin typeface="Arial" panose="020B0604020202020204" pitchFamily="34" charset="0"/>
                <a:cs typeface="Arial" panose="020B0604020202020204" pitchFamily="34" charset="0"/>
                <a:sym typeface="Wingdings" pitchFamily="2" charset="2"/>
              </a:rPr>
              <a:t> = 0.5 for all </a:t>
            </a:r>
            <a:r>
              <a:rPr lang="en-US" dirty="0" err="1">
                <a:solidFill>
                  <a:schemeClr val="tx1"/>
                </a:solidFill>
                <a:latin typeface="Arial" panose="020B0604020202020204" pitchFamily="34" charset="0"/>
                <a:cs typeface="Arial" panose="020B0604020202020204" pitchFamily="34" charset="0"/>
                <a:sym typeface="Wingdings" pitchFamily="2" charset="2"/>
              </a:rPr>
              <a:t>wvl</a:t>
            </a:r>
            <a:endParaRPr lang="en-US"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3809999" y="1418373"/>
            <a:ext cx="531794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609601" y="1576679"/>
            <a:ext cx="2895599" cy="3077766"/>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Your design justification</a:t>
            </a:r>
          </a:p>
          <a:p>
            <a:pPr algn="ctr"/>
            <a:endParaRPr lang="en-US" sz="2000" dirty="0">
              <a:latin typeface="Arial" panose="020B0604020202020204" pitchFamily="34" charset="0"/>
              <a:cs typeface="Arial" panose="020B0604020202020204" pitchFamily="34" charset="0"/>
            </a:endParaRPr>
          </a:p>
          <a:p>
            <a:pPr algn="ctr"/>
            <a:r>
              <a:rPr lang="en-US" dirty="0">
                <a:latin typeface="Arial" panose="020B0604020202020204" pitchFamily="34" charset="0"/>
                <a:cs typeface="Arial" panose="020B0604020202020204" pitchFamily="34" charset="0"/>
              </a:rPr>
              <a:t>FSR = λ² / (ng · ΔL) </a:t>
            </a:r>
            <a:endParaRPr lang="en-US" dirty="0">
              <a:latin typeface="Arial" panose="020B0604020202020204" pitchFamily="34" charset="0"/>
              <a:ea typeface="Calibri"/>
              <a:cs typeface="Arial" panose="020B0604020202020204" pitchFamily="34" charset="0"/>
            </a:endParaRPr>
          </a:p>
          <a:p>
            <a:pPr algn="ctr"/>
            <a:r>
              <a:rPr lang="en-US" dirty="0">
                <a:latin typeface="Arial" panose="020B0604020202020204" pitchFamily="34" charset="0"/>
                <a:ea typeface="+mn-lt"/>
                <a:cs typeface="Arial" panose="020B0604020202020204" pitchFamily="34" charset="0"/>
              </a:rPr>
              <a:t>ΔL = λ² / (ng · FSR)</a:t>
            </a:r>
          </a:p>
          <a:p>
            <a:pPr algn="ctr"/>
            <a:r>
              <a:rPr lang="en-US" sz="2000" dirty="0">
                <a:latin typeface="Arial" panose="020B0604020202020204" pitchFamily="34" charset="0"/>
                <a:ea typeface="+mn-lt"/>
                <a:cs typeface="Arial" panose="020B0604020202020204" pitchFamily="34" charset="0"/>
              </a:rPr>
              <a:t>λ = 1.55 µm</a:t>
            </a:r>
          </a:p>
          <a:p>
            <a:pPr algn="ctr"/>
            <a:r>
              <a:rPr lang="en-US" sz="2000" dirty="0">
                <a:latin typeface="Arial" panose="020B0604020202020204" pitchFamily="34" charset="0"/>
                <a:ea typeface="+mn-lt"/>
                <a:cs typeface="Arial" panose="020B0604020202020204" pitchFamily="34" charset="0"/>
              </a:rPr>
              <a:t>ng = 2</a:t>
            </a:r>
          </a:p>
          <a:p>
            <a:pPr algn="ctr"/>
            <a:r>
              <a:rPr lang="en-US" sz="2000" dirty="0">
                <a:latin typeface="Arial" panose="020B0604020202020204" pitchFamily="34" charset="0"/>
                <a:ea typeface="+mn-lt"/>
                <a:cs typeface="Arial" panose="020B0604020202020204" pitchFamily="34" charset="0"/>
              </a:rPr>
              <a:t>FSR = 0.002 µm</a:t>
            </a:r>
          </a:p>
          <a:p>
            <a:pPr algn="ctr"/>
            <a:endParaRPr lang="en-US" dirty="0">
              <a:latin typeface="Arial" panose="020B0604020202020204" pitchFamily="34" charset="0"/>
              <a:ea typeface="Calibri"/>
              <a:cs typeface="Arial" panose="020B0604020202020204" pitchFamily="34" charset="0"/>
            </a:endParaRPr>
          </a:p>
          <a:p>
            <a:pPr algn="ctr"/>
            <a:r>
              <a:rPr lang="en-US" sz="2000" dirty="0">
                <a:latin typeface="Arial" panose="020B0604020202020204" pitchFamily="34" charset="0"/>
                <a:ea typeface="+mn-lt"/>
                <a:cs typeface="Arial" panose="020B0604020202020204" pitchFamily="34" charset="0"/>
              </a:rPr>
              <a:t>ΔL = 1.55² / (2 · 0.002)</a:t>
            </a:r>
          </a:p>
          <a:p>
            <a:pPr algn="ctr"/>
            <a:r>
              <a:rPr lang="en-US" sz="2000" dirty="0">
                <a:latin typeface="Arial" panose="020B0604020202020204" pitchFamily="34" charset="0"/>
                <a:ea typeface="+mn-lt"/>
                <a:cs typeface="Arial" panose="020B0604020202020204" pitchFamily="34" charset="0"/>
              </a:rPr>
              <a:t>ΔL = 600.625 µm</a:t>
            </a:r>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p:pic>
        <p:nvPicPr>
          <p:cNvPr id="7" name="Imagen 6">
            <a:extLst>
              <a:ext uri="{FF2B5EF4-FFF2-40B4-BE49-F238E27FC236}">
                <a16:creationId xmlns:a16="http://schemas.microsoft.com/office/drawing/2014/main" id="{E4828522-4B65-BA59-832A-1E330F50E362}"/>
              </a:ext>
            </a:extLst>
          </p:cNvPr>
          <p:cNvPicPr>
            <a:picLocks noChangeAspect="1"/>
          </p:cNvPicPr>
          <p:nvPr/>
        </p:nvPicPr>
        <p:blipFill>
          <a:blip r:embed="rId3"/>
          <a:stretch>
            <a:fillRect/>
          </a:stretch>
        </p:blipFill>
        <p:spPr>
          <a:xfrm>
            <a:off x="3809999" y="1745040"/>
            <a:ext cx="5237716" cy="2596851"/>
          </a:xfrm>
          <a:prstGeom prst="rect">
            <a:avLst/>
          </a:prstGeom>
        </p:spPr>
      </p:pic>
    </p:spTree>
    <p:extLst>
      <p:ext uri="{BB962C8B-B14F-4D97-AF65-F5344CB8AC3E}">
        <p14:creationId xmlns:p14="http://schemas.microsoft.com/office/powerpoint/2010/main" val="2479067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124719"/>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439902" y="4410907"/>
            <a:ext cx="11353959" cy="2308324"/>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is there any interference pattern in case 1? Is there any interference pattern in case 2? Explain the difference between both cases. Compare the Extinction Ratio of both variations. </a:t>
            </a:r>
          </a:p>
          <a:p>
            <a:r>
              <a:rPr lang="es-ES" sz="1200" b="1" dirty="0">
                <a:latin typeface="Arial" panose="020B0604020202020204" pitchFamily="34" charset="0"/>
                <a:cs typeface="Arial" panose="020B0604020202020204" pitchFamily="34" charset="0"/>
              </a:rPr>
              <a:t>Caso 1 (Ka = Kb = 0.5):</a:t>
            </a:r>
            <a:r>
              <a:rPr lang="es-ES" sz="1200" dirty="0">
                <a:latin typeface="Arial" panose="020B0604020202020204" pitchFamily="34" charset="0"/>
                <a:cs typeface="Arial" panose="020B0604020202020204" pitchFamily="34" charset="0"/>
              </a:rPr>
              <a:t> Presenta un patrón de interferencia muy débil (ER ≈ 1.32 dB). El brazo </a:t>
            </a:r>
            <a:r>
              <a:rPr lang="es-ES" sz="1200" dirty="0" err="1">
                <a:latin typeface="Arial" panose="020B0604020202020204" pitchFamily="34" charset="0"/>
                <a:cs typeface="Arial" panose="020B0604020202020204" pitchFamily="34" charset="0"/>
              </a:rPr>
              <a:t>extra-largo</a:t>
            </a:r>
            <a:r>
              <a:rPr lang="es-ES" sz="1200" dirty="0">
                <a:latin typeface="Arial" panose="020B0604020202020204" pitchFamily="34" charset="0"/>
                <a:cs typeface="Arial" panose="020B0604020202020204" pitchFamily="34" charset="0"/>
              </a:rPr>
              <a:t> introduce unas pérdidas por propagación muy altas (≈ 22.38 dB). Al llegar al acoplador de salida, las potencias son tan desiguales que la cancelación destructiva es mínima.</a:t>
            </a:r>
          </a:p>
          <a:p>
            <a:r>
              <a:rPr lang="es-ES" sz="1200" b="1" dirty="0">
                <a:latin typeface="Arial" panose="020B0604020202020204" pitchFamily="34" charset="0"/>
                <a:cs typeface="Arial" panose="020B0604020202020204" pitchFamily="34" charset="0"/>
              </a:rPr>
              <a:t>Caso 2 (Ka = 0.1):</a:t>
            </a:r>
            <a:r>
              <a:rPr lang="es-ES" sz="1200" dirty="0">
                <a:latin typeface="Arial" panose="020B0604020202020204" pitchFamily="34" charset="0"/>
                <a:cs typeface="Arial" panose="020B0604020202020204" pitchFamily="34" charset="0"/>
              </a:rPr>
              <a:t> El patrón es casi imperceptible (ER ≈ 0.44 dB). Cambiar el acoplamiento a 0.1 empeora drásticamente el desequilibrio de potencias entre los brazos, reduciendo aún más la visibilidad.</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Extra: What coupling coefficient will you select for the input coupler if you want to match the losses of the longer arm? Simulate and extract the ER.</a:t>
            </a:r>
          </a:p>
          <a:p>
            <a:pPr algn="just"/>
            <a:endParaRPr lang="en-U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Para obtener una visibilidad perfecta, el acoplador de entrada debe enviar casi toda la luz por el brazo largo para compensar sus 22.38 dB de atenuación. Igualando potencias, calculamos el valor óptimo </a:t>
            </a:r>
            <a:r>
              <a:rPr lang="es-ES" sz="1200" b="1" dirty="0">
                <a:latin typeface="Arial" panose="020B0604020202020204" pitchFamily="34" charset="0"/>
                <a:cs typeface="Arial" panose="020B0604020202020204" pitchFamily="34" charset="0"/>
              </a:rPr>
              <a:t>Ka = 0.9943</a:t>
            </a:r>
            <a:r>
              <a:rPr lang="es-ES" sz="1200" dirty="0">
                <a:latin typeface="Arial" panose="020B0604020202020204" pitchFamily="34" charset="0"/>
                <a:cs typeface="Arial" panose="020B0604020202020204" pitchFamily="34" charset="0"/>
              </a:rPr>
              <a:t>. Al simular con este valor, se restaura el equilibrio total en la recombinación, logrando valles profundos y un </a:t>
            </a:r>
            <a:r>
              <a:rPr lang="es-ES" sz="1200" b="1" dirty="0">
                <a:latin typeface="Arial" panose="020B0604020202020204" pitchFamily="34" charset="0"/>
                <a:cs typeface="Arial" panose="020B0604020202020204" pitchFamily="34" charset="0"/>
              </a:rPr>
              <a:t>ER &gt; 70 dB</a:t>
            </a:r>
            <a:r>
              <a:rPr lang="es-ES" sz="1200" dirty="0">
                <a:latin typeface="Arial" panose="020B0604020202020204" pitchFamily="34" charset="0"/>
                <a:cs typeface="Arial" panose="020B0604020202020204" pitchFamily="34" charset="0"/>
              </a:rPr>
              <a:t>.</a:t>
            </a:r>
          </a:p>
        </p:txBody>
      </p:sp>
      <p:sp>
        <p:nvSpPr>
          <p:cNvPr id="4" name="Rectángulo 3">
            <a:extLst>
              <a:ext uri="{FF2B5EF4-FFF2-40B4-BE49-F238E27FC236}">
                <a16:creationId xmlns:a16="http://schemas.microsoft.com/office/drawing/2014/main" id="{FDBAE930-4EE5-671B-4DE7-6BC60C48E7C0}"/>
              </a:ext>
            </a:extLst>
          </p:cNvPr>
          <p:cNvSpPr/>
          <p:nvPr/>
        </p:nvSpPr>
        <p:spPr>
          <a:xfrm>
            <a:off x="439902" y="839753"/>
            <a:ext cx="7506508" cy="349364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8060061" y="839754"/>
            <a:ext cx="3733800" cy="3493644"/>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2</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EF71FD03-8141-88A1-69BA-49588EB48896}"/>
              </a:ext>
            </a:extLst>
          </p:cNvPr>
          <p:cNvSpPr txBox="1"/>
          <p:nvPr/>
        </p:nvSpPr>
        <p:spPr>
          <a:xfrm>
            <a:off x="1520656" y="1915687"/>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pic>
        <p:nvPicPr>
          <p:cNvPr id="8" name="Imagen 7">
            <a:extLst>
              <a:ext uri="{FF2B5EF4-FFF2-40B4-BE49-F238E27FC236}">
                <a16:creationId xmlns:a16="http://schemas.microsoft.com/office/drawing/2014/main" id="{C25596A2-41C6-4285-9F5D-702D193B51BA}"/>
              </a:ext>
            </a:extLst>
          </p:cNvPr>
          <p:cNvPicPr>
            <a:picLocks noChangeAspect="1"/>
          </p:cNvPicPr>
          <p:nvPr/>
        </p:nvPicPr>
        <p:blipFill>
          <a:blip r:embed="rId3"/>
          <a:stretch>
            <a:fillRect/>
          </a:stretch>
        </p:blipFill>
        <p:spPr>
          <a:xfrm>
            <a:off x="546839" y="1067703"/>
            <a:ext cx="7292634" cy="2889627"/>
          </a:xfrm>
          <a:prstGeom prst="rect">
            <a:avLst/>
          </a:prstGeom>
        </p:spPr>
      </p:pic>
    </p:spTree>
    <p:extLst>
      <p:ext uri="{BB962C8B-B14F-4D97-AF65-F5344CB8AC3E}">
        <p14:creationId xmlns:p14="http://schemas.microsoft.com/office/powerpoint/2010/main" val="307098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CC93C-D3DB-1DBF-AC7E-24D8224A5BEF}"/>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BDE1FFF3-11E1-EFBB-7699-1AD730FC2D37}"/>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A7DCC369-CCB3-29A7-D8C4-B709BE6575A8}"/>
              </a:ext>
            </a:extLst>
          </p:cNvPr>
          <p:cNvSpPr>
            <a:spLocks noGrp="1"/>
          </p:cNvSpPr>
          <p:nvPr>
            <p:ph type="sldNum" sz="quarter" idx="7"/>
          </p:nvPr>
        </p:nvSpPr>
        <p:spPr/>
        <p:txBody>
          <a:bodyPr/>
          <a:lstStyle/>
          <a:p>
            <a:fld id="{C2F52289-4012-4053-9770-FE82CEB9514F}" type="slidenum">
              <a:rPr lang="en-US" smtClean="0"/>
              <a:pPr/>
              <a:t>7</a:t>
            </a:fld>
            <a:endParaRPr lang="en-US" dirty="0"/>
          </a:p>
        </p:txBody>
      </p:sp>
      <p:pic>
        <p:nvPicPr>
          <p:cNvPr id="9" name="Gráfico 8">
            <a:extLst>
              <a:ext uri="{FF2B5EF4-FFF2-40B4-BE49-F238E27FC236}">
                <a16:creationId xmlns:a16="http://schemas.microsoft.com/office/drawing/2014/main" id="{AD337D45-7603-DF5A-5100-49ABAE385F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98B79285-D4B6-5CE8-B737-9441B96E4928}"/>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p:pic>
        <p:nvPicPr>
          <p:cNvPr id="11" name="Imagen 10">
            <a:extLst>
              <a:ext uri="{FF2B5EF4-FFF2-40B4-BE49-F238E27FC236}">
                <a16:creationId xmlns:a16="http://schemas.microsoft.com/office/drawing/2014/main" id="{B3F39B72-BD5B-AA5D-5834-5D37BD6B2F39}"/>
              </a:ext>
            </a:extLst>
          </p:cNvPr>
          <p:cNvPicPr>
            <a:picLocks noChangeAspect="1"/>
          </p:cNvPicPr>
          <p:nvPr/>
        </p:nvPicPr>
        <p:blipFill>
          <a:blip r:embed="rId3"/>
          <a:stretch>
            <a:fillRect/>
          </a:stretch>
        </p:blipFill>
        <p:spPr>
          <a:xfrm>
            <a:off x="2738766" y="5311466"/>
            <a:ext cx="2514600" cy="525162"/>
          </a:xfrm>
          <a:prstGeom prst="rect">
            <a:avLst/>
          </a:prstGeom>
        </p:spPr>
      </p:pic>
      <p:sp>
        <p:nvSpPr>
          <p:cNvPr id="14" name="CuadroTexto 13">
            <a:extLst>
              <a:ext uri="{FF2B5EF4-FFF2-40B4-BE49-F238E27FC236}">
                <a16:creationId xmlns:a16="http://schemas.microsoft.com/office/drawing/2014/main" id="{6024F7FC-39F1-E748-1663-F041882D6096}"/>
              </a:ext>
            </a:extLst>
          </p:cNvPr>
          <p:cNvSpPr txBox="1"/>
          <p:nvPr/>
        </p:nvSpPr>
        <p:spPr>
          <a:xfrm>
            <a:off x="6629400" y="1628826"/>
            <a:ext cx="4876800" cy="2123658"/>
          </a:xfrm>
          <a:prstGeom prst="rect">
            <a:avLst/>
          </a:prstGeom>
          <a:noFill/>
        </p:spPr>
        <p:txBody>
          <a:bodyPr wrap="square">
            <a:spAutoFit/>
          </a:bodyPr>
          <a:lstStyle/>
          <a:p>
            <a:pPr>
              <a:buNone/>
            </a:pPr>
            <a:r>
              <a:rPr lang="es-ES" sz="1200" dirty="0">
                <a:effectLst/>
                <a:latin typeface="Arial" panose="020B0604020202020204" pitchFamily="34" charset="0"/>
                <a:cs typeface="Arial" panose="020B0604020202020204" pitchFamily="34" charset="0"/>
              </a:rPr>
              <a:t>El espectro de transmisión tiene un comportamiento periódico característico de un resonador </a:t>
            </a:r>
            <a:r>
              <a:rPr lang="es-ES" sz="1200" dirty="0" err="1">
                <a:effectLst/>
                <a:latin typeface="Arial" panose="020B0604020202020204" pitchFamily="34" charset="0"/>
                <a:cs typeface="Arial" panose="020B0604020202020204" pitchFamily="34" charset="0"/>
              </a:rPr>
              <a:t>All</a:t>
            </a:r>
            <a:r>
              <a:rPr lang="es-ES" sz="1200" dirty="0">
                <a:effectLst/>
                <a:latin typeface="Arial" panose="020B0604020202020204" pitchFamily="34" charset="0"/>
                <a:cs typeface="Arial" panose="020B0604020202020204" pitchFamily="34" charset="0"/>
              </a:rPr>
              <a:t>-Pass de cavidad estrecha. Al tener un coeficiente de acoplo bajo (K = 0.025), el dispositivo funciona con un factor de calidad (Q) muy elevado, lo que se traduce en </a:t>
            </a:r>
            <a:r>
              <a:rPr lang="es-ES" sz="1200" dirty="0" err="1">
                <a:effectLst/>
                <a:latin typeface="Arial" panose="020B0604020202020204" pitchFamily="34" charset="0"/>
                <a:cs typeface="Arial" panose="020B0604020202020204" pitchFamily="34" charset="0"/>
              </a:rPr>
              <a:t>notches</a:t>
            </a:r>
            <a:r>
              <a:rPr lang="es-ES" sz="1200" dirty="0">
                <a:effectLst/>
                <a:latin typeface="Arial" panose="020B0604020202020204" pitchFamily="34" charset="0"/>
                <a:cs typeface="Arial" panose="020B0604020202020204" pitchFamily="34" charset="0"/>
              </a:rPr>
              <a:t> de resonancia sumamente estrechas y agudas donde la luz queda confinada de forma eficiente por interferencia destructiva en la salida. </a:t>
            </a:r>
          </a:p>
          <a:p>
            <a:pPr>
              <a:buNone/>
            </a:pPr>
            <a:endParaRPr lang="es-ES" sz="1200" b="1" dirty="0">
              <a:effectLst/>
              <a:latin typeface="Arial" panose="020B0604020202020204" pitchFamily="34" charset="0"/>
              <a:cs typeface="Arial" panose="020B0604020202020204" pitchFamily="34" charset="0"/>
            </a:endParaRPr>
          </a:p>
          <a:p>
            <a:pPr>
              <a:buNone/>
            </a:pPr>
            <a:r>
              <a:rPr lang="es-ES" sz="1200" dirty="0">
                <a:effectLst/>
                <a:latin typeface="Arial" panose="020B0604020202020204" pitchFamily="34" charset="0"/>
                <a:cs typeface="Arial" panose="020B0604020202020204" pitchFamily="34" charset="0"/>
              </a:rPr>
              <a:t>El </a:t>
            </a:r>
            <a:r>
              <a:rPr lang="es-ES" sz="1200" b="1" dirty="0">
                <a:effectLst/>
                <a:latin typeface="Arial" panose="020B0604020202020204" pitchFamily="34" charset="0"/>
                <a:cs typeface="Arial" panose="020B0604020202020204" pitchFamily="34" charset="0"/>
              </a:rPr>
              <a:t>FSR </a:t>
            </a:r>
            <a:r>
              <a:rPr lang="es-ES" sz="1200" dirty="0">
                <a:effectLst/>
                <a:latin typeface="Arial" panose="020B0604020202020204" pitchFamily="34" charset="0"/>
                <a:cs typeface="Arial" panose="020B0604020202020204" pitchFamily="34" charset="0"/>
              </a:rPr>
              <a:t>obtenido es de </a:t>
            </a:r>
            <a:r>
              <a:rPr lang="es-ES" sz="1200" b="1" dirty="0">
                <a:effectLst/>
                <a:latin typeface="Arial" panose="020B0604020202020204" pitchFamily="34" charset="0"/>
                <a:cs typeface="Arial" panose="020B0604020202020204" pitchFamily="34" charset="0"/>
              </a:rPr>
              <a:t>24.03 nm</a:t>
            </a:r>
            <a:r>
              <a:rPr lang="es-ES" sz="1200" dirty="0">
                <a:effectLst/>
                <a:latin typeface="Arial" panose="020B0604020202020204" pitchFamily="34" charset="0"/>
                <a:cs typeface="Arial" panose="020B0604020202020204" pitchFamily="34" charset="0"/>
              </a:rPr>
              <a:t>. Esto representa la distancia en frecuencia/longitud de onda entre dos armónicos resonantes consecutivos. </a:t>
            </a:r>
            <a:r>
              <a:rPr lang="es-ES" sz="1200" dirty="0">
                <a:latin typeface="Arial" panose="020B0604020202020204" pitchFamily="34" charset="0"/>
                <a:cs typeface="Arial" panose="020B0604020202020204" pitchFamily="34" charset="0"/>
              </a:rPr>
              <a:t>Su </a:t>
            </a:r>
            <a:r>
              <a:rPr lang="es-ES" sz="1200" dirty="0">
                <a:effectLst/>
                <a:latin typeface="Arial" panose="020B0604020202020204" pitchFamily="34" charset="0"/>
                <a:cs typeface="Arial" panose="020B0604020202020204" pitchFamily="34" charset="0"/>
              </a:rPr>
              <a:t>relación es inversamente proporcional al perímetro del anillo (Lr).</a:t>
            </a:r>
          </a:p>
        </p:txBody>
      </p:sp>
      <p:pic>
        <p:nvPicPr>
          <p:cNvPr id="16" name="Imagen 15">
            <a:extLst>
              <a:ext uri="{FF2B5EF4-FFF2-40B4-BE49-F238E27FC236}">
                <a16:creationId xmlns:a16="http://schemas.microsoft.com/office/drawing/2014/main" id="{F487C659-C404-FCF4-6F5C-630F2315DC85}"/>
              </a:ext>
            </a:extLst>
          </p:cNvPr>
          <p:cNvPicPr>
            <a:picLocks noChangeAspect="1"/>
          </p:cNvPicPr>
          <p:nvPr/>
        </p:nvPicPr>
        <p:blipFill>
          <a:blip r:embed="rId4"/>
          <a:stretch>
            <a:fillRect/>
          </a:stretch>
        </p:blipFill>
        <p:spPr>
          <a:xfrm>
            <a:off x="7261079" y="4114800"/>
            <a:ext cx="2081567" cy="562374"/>
          </a:xfrm>
          <a:prstGeom prst="rect">
            <a:avLst/>
          </a:prstGeom>
        </p:spPr>
      </p:pic>
      <p:pic>
        <p:nvPicPr>
          <p:cNvPr id="21" name="Imagen 20">
            <a:extLst>
              <a:ext uri="{FF2B5EF4-FFF2-40B4-BE49-F238E27FC236}">
                <a16:creationId xmlns:a16="http://schemas.microsoft.com/office/drawing/2014/main" id="{35BA6628-A5E9-5964-5AEA-8BF76EAF0CD1}"/>
              </a:ext>
            </a:extLst>
          </p:cNvPr>
          <p:cNvPicPr>
            <a:picLocks noChangeAspect="1"/>
          </p:cNvPicPr>
          <p:nvPr/>
        </p:nvPicPr>
        <p:blipFill>
          <a:blip r:embed="rId5"/>
          <a:stretch>
            <a:fillRect/>
          </a:stretch>
        </p:blipFill>
        <p:spPr>
          <a:xfrm>
            <a:off x="9448800" y="4301342"/>
            <a:ext cx="876444" cy="194765"/>
          </a:xfrm>
          <a:prstGeom prst="rect">
            <a:avLst/>
          </a:prstGeom>
        </p:spPr>
      </p:pic>
      <p:pic>
        <p:nvPicPr>
          <p:cNvPr id="23" name="Imagen 22">
            <a:extLst>
              <a:ext uri="{FF2B5EF4-FFF2-40B4-BE49-F238E27FC236}">
                <a16:creationId xmlns:a16="http://schemas.microsoft.com/office/drawing/2014/main" id="{F786BA16-F1C1-5F1F-7880-CEAA9E169F35}"/>
              </a:ext>
            </a:extLst>
          </p:cNvPr>
          <p:cNvPicPr>
            <a:picLocks noChangeAspect="1"/>
          </p:cNvPicPr>
          <p:nvPr/>
        </p:nvPicPr>
        <p:blipFill>
          <a:blip r:embed="rId6"/>
          <a:stretch>
            <a:fillRect/>
          </a:stretch>
        </p:blipFill>
        <p:spPr>
          <a:xfrm>
            <a:off x="1063593" y="1346399"/>
            <a:ext cx="4578413" cy="3965067"/>
          </a:xfrm>
          <a:prstGeom prst="rect">
            <a:avLst/>
          </a:prstGeom>
        </p:spPr>
      </p:pic>
    </p:spTree>
    <p:extLst>
      <p:ext uri="{BB962C8B-B14F-4D97-AF65-F5344CB8AC3E}">
        <p14:creationId xmlns:p14="http://schemas.microsoft.com/office/powerpoint/2010/main" val="2580463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8AAFE-EFE2-3F74-F809-F92AB65D7A32}"/>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74CD08D-4527-A734-BD12-1F25C26FB4B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BA84BD64-0444-4813-2D71-CCFA47D5A07C}"/>
              </a:ext>
            </a:extLst>
          </p:cNvPr>
          <p:cNvSpPr>
            <a:spLocks noGrp="1"/>
          </p:cNvSpPr>
          <p:nvPr>
            <p:ph type="sldNum" sz="quarter" idx="7"/>
          </p:nvPr>
        </p:nvSpPr>
        <p:spPr/>
        <p:txBody>
          <a:bodyPr/>
          <a:lstStyle/>
          <a:p>
            <a:fld id="{C2F52289-4012-4053-9770-FE82CEB9514F}" type="slidenum">
              <a:rPr lang="en-US" smtClean="0"/>
              <a:pPr/>
              <a:t>8</a:t>
            </a:fld>
            <a:endParaRPr lang="en-US" dirty="0"/>
          </a:p>
        </p:txBody>
      </p:sp>
      <p:pic>
        <p:nvPicPr>
          <p:cNvPr id="11" name="Gráfico 10">
            <a:extLst>
              <a:ext uri="{FF2B5EF4-FFF2-40B4-BE49-F238E27FC236}">
                <a16:creationId xmlns:a16="http://schemas.microsoft.com/office/drawing/2014/main" id="{259221B3-4462-3DE1-7AE3-C481D9714F0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887E18C8-0F8D-7B86-082A-DE34393C6CDE}"/>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pic>
        <p:nvPicPr>
          <p:cNvPr id="8" name="Imagen 7">
            <a:extLst>
              <a:ext uri="{FF2B5EF4-FFF2-40B4-BE49-F238E27FC236}">
                <a16:creationId xmlns:a16="http://schemas.microsoft.com/office/drawing/2014/main" id="{3CE2DAB6-02EA-6416-F15B-4C81910A0B9C}"/>
              </a:ext>
            </a:extLst>
          </p:cNvPr>
          <p:cNvPicPr>
            <a:picLocks noChangeAspect="1"/>
          </p:cNvPicPr>
          <p:nvPr/>
        </p:nvPicPr>
        <p:blipFill>
          <a:blip r:embed="rId3"/>
          <a:stretch>
            <a:fillRect/>
          </a:stretch>
        </p:blipFill>
        <p:spPr>
          <a:xfrm>
            <a:off x="914400" y="5333448"/>
            <a:ext cx="1733274" cy="923963"/>
          </a:xfrm>
          <a:prstGeom prst="rect">
            <a:avLst/>
          </a:prstGeom>
        </p:spPr>
      </p:pic>
      <p:sp>
        <p:nvSpPr>
          <p:cNvPr id="15" name="CuadroTexto 14">
            <a:extLst>
              <a:ext uri="{FF2B5EF4-FFF2-40B4-BE49-F238E27FC236}">
                <a16:creationId xmlns:a16="http://schemas.microsoft.com/office/drawing/2014/main" id="{6B54A532-741C-F956-AC2B-E4D857B0DA9D}"/>
              </a:ext>
            </a:extLst>
          </p:cNvPr>
          <p:cNvSpPr txBox="1"/>
          <p:nvPr/>
        </p:nvSpPr>
        <p:spPr>
          <a:xfrm>
            <a:off x="7749540" y="1207889"/>
            <a:ext cx="3124200" cy="3785652"/>
          </a:xfrm>
          <a:prstGeom prst="rect">
            <a:avLst/>
          </a:prstGeom>
          <a:noFill/>
        </p:spPr>
        <p:txBody>
          <a:bodyPr wrap="square">
            <a:spAutoFit/>
          </a:bodyPr>
          <a:lstStyle/>
          <a:p>
            <a:pPr>
              <a:buNone/>
            </a:pPr>
            <a:r>
              <a:rPr lang="es-ES" sz="1200" dirty="0">
                <a:effectLst/>
                <a:latin typeface="Arial" panose="020B0604020202020204" pitchFamily="34" charset="0"/>
                <a:cs typeface="Arial" panose="020B0604020202020204" pitchFamily="34" charset="0"/>
              </a:rPr>
              <a:t>Para conseguir un FSR de 15 nm usando un índice de grupo </a:t>
            </a:r>
            <a:r>
              <a:rPr lang="es-ES" sz="1200" dirty="0">
                <a:latin typeface="Arial" panose="020B0604020202020204" pitchFamily="34" charset="0"/>
                <a:cs typeface="Arial" panose="020B0604020202020204" pitchFamily="34" charset="0"/>
              </a:rPr>
              <a:t>n</a:t>
            </a:r>
            <a:r>
              <a:rPr lang="es-ES" sz="1200" dirty="0">
                <a:effectLst/>
                <a:latin typeface="Arial" panose="020B0604020202020204" pitchFamily="34" charset="0"/>
                <a:cs typeface="Arial" panose="020B0604020202020204" pitchFamily="34" charset="0"/>
              </a:rPr>
              <a:t>g = 2.0, hemos calculado un perímetro óptimo de 80.083mu. La gráfica simula perfectamente esta separación entre valles.</a:t>
            </a:r>
          </a:p>
          <a:p>
            <a:pPr>
              <a:buNone/>
            </a:pPr>
            <a:endParaRPr lang="es-ES" sz="1200" dirty="0">
              <a:effectLst/>
              <a:latin typeface="Arial" panose="020B0604020202020204" pitchFamily="34" charset="0"/>
              <a:cs typeface="Arial" panose="020B0604020202020204" pitchFamily="34" charset="0"/>
            </a:endParaRPr>
          </a:p>
          <a:p>
            <a:pPr>
              <a:buNone/>
            </a:pPr>
            <a:r>
              <a:rPr lang="es-ES" sz="1200" dirty="0">
                <a:effectLst/>
                <a:latin typeface="Arial" panose="020B0604020202020204" pitchFamily="34" charset="0"/>
                <a:cs typeface="Arial" panose="020B0604020202020204" pitchFamily="34" charset="0"/>
              </a:rPr>
              <a:t>Al probar valores de K bajos (de 0.005 a 0.100), vemos que cuanto más sube la K, más luz entra al anillo. Esto hace que los valles bajen más y que el ER aumente desde 0.23 dB hasta 5.08 dB.</a:t>
            </a:r>
          </a:p>
          <a:p>
            <a:pPr>
              <a:buNone/>
            </a:pPr>
            <a:endParaRPr lang="es-ES" sz="1200" dirty="0">
              <a:effectLst/>
              <a:latin typeface="Arial" panose="020B0604020202020204" pitchFamily="34" charset="0"/>
              <a:cs typeface="Arial" panose="020B0604020202020204" pitchFamily="34" charset="0"/>
            </a:endParaRPr>
          </a:p>
          <a:p>
            <a:pPr>
              <a:buNone/>
            </a:pPr>
            <a:r>
              <a:rPr lang="es-ES" sz="1200" dirty="0">
                <a:effectLst/>
                <a:latin typeface="Arial" panose="020B0604020202020204" pitchFamily="34" charset="0"/>
                <a:cs typeface="Arial" panose="020B0604020202020204" pitchFamily="34" charset="0"/>
              </a:rPr>
              <a:t>Acoplo Crítico: Si calculamos las pérdidas de la guía, la teoría nos dice que el K crítico exacto es 0.308. Como todos nuestros valores probados están por debajo, el sistema está en régimen </a:t>
            </a:r>
            <a:r>
              <a:rPr lang="es-ES" sz="1200" dirty="0" err="1">
                <a:effectLst/>
                <a:latin typeface="Arial" panose="020B0604020202020204" pitchFamily="34" charset="0"/>
                <a:cs typeface="Arial" panose="020B0604020202020204" pitchFamily="34" charset="0"/>
              </a:rPr>
              <a:t>sub-acoplado</a:t>
            </a:r>
            <a:r>
              <a:rPr lang="es-ES" sz="1200" dirty="0">
                <a:effectLst/>
                <a:latin typeface="Arial" panose="020B0604020202020204" pitchFamily="34" charset="0"/>
                <a:cs typeface="Arial" panose="020B0604020202020204" pitchFamily="34" charset="0"/>
              </a:rPr>
              <a:t>. Para lograr transmisión cero en los valles, tendríamos que subir el acoplo hasta alcanzar ese 0.308.</a:t>
            </a:r>
          </a:p>
        </p:txBody>
      </p:sp>
      <p:pic>
        <p:nvPicPr>
          <p:cNvPr id="4" name="Imagen 3">
            <a:extLst>
              <a:ext uri="{FF2B5EF4-FFF2-40B4-BE49-F238E27FC236}">
                <a16:creationId xmlns:a16="http://schemas.microsoft.com/office/drawing/2014/main" id="{8C16D7D5-E2DC-CDF6-9D0A-4C9D85CEEB70}"/>
              </a:ext>
            </a:extLst>
          </p:cNvPr>
          <p:cNvPicPr>
            <a:picLocks noChangeAspect="1"/>
          </p:cNvPicPr>
          <p:nvPr/>
        </p:nvPicPr>
        <p:blipFill>
          <a:blip r:embed="rId4"/>
          <a:stretch>
            <a:fillRect/>
          </a:stretch>
        </p:blipFill>
        <p:spPr>
          <a:xfrm>
            <a:off x="990600" y="1140280"/>
            <a:ext cx="5410200" cy="4126970"/>
          </a:xfrm>
          <a:prstGeom prst="rect">
            <a:avLst/>
          </a:prstGeom>
        </p:spPr>
      </p:pic>
    </p:spTree>
    <p:extLst>
      <p:ext uri="{BB962C8B-B14F-4D97-AF65-F5344CB8AC3E}">
        <p14:creationId xmlns:p14="http://schemas.microsoft.com/office/powerpoint/2010/main" val="3360871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8D330-4307-4949-3962-4042B8C6A96B}"/>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38BE44CE-E472-9C03-8265-FE8DCB848C95}"/>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45AB46B-AE19-CB1B-5CBD-B3CEFBDC1AAA}"/>
              </a:ext>
            </a:extLst>
          </p:cNvPr>
          <p:cNvSpPr>
            <a:spLocks noGrp="1"/>
          </p:cNvSpPr>
          <p:nvPr>
            <p:ph type="sldNum" sz="quarter" idx="7"/>
          </p:nvPr>
        </p:nvSpPr>
        <p:spPr/>
        <p:txBody>
          <a:bodyPr/>
          <a:lstStyle/>
          <a:p>
            <a:fld id="{C2F52289-4012-4053-9770-FE82CEB9514F}" type="slidenum">
              <a:rPr lang="en-US" smtClean="0"/>
              <a:pPr/>
              <a:t>9</a:t>
            </a:fld>
            <a:endParaRPr lang="en-US" dirty="0"/>
          </a:p>
        </p:txBody>
      </p:sp>
      <p:pic>
        <p:nvPicPr>
          <p:cNvPr id="3" name="Gráfico 2">
            <a:extLst>
              <a:ext uri="{FF2B5EF4-FFF2-40B4-BE49-F238E27FC236}">
                <a16:creationId xmlns:a16="http://schemas.microsoft.com/office/drawing/2014/main" id="{D8F01BDD-2137-5130-2A0C-D713D11154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555AF1A4-4B0E-3123-74D8-33EFC2B62083}"/>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p>
          <a:p>
            <a:pPr marL="12700">
              <a:spcBef>
                <a:spcPts val="100"/>
              </a:spcBef>
            </a:pPr>
            <a:r>
              <a:rPr lang="en-US" b="0" kern="0" spc="-5" dirty="0">
                <a:latin typeface="+mj-lt"/>
                <a:cs typeface="Lucida Sans"/>
              </a:rPr>
              <a:t>Change K value between 0.1 and 0.9 in steps of 0.1</a:t>
            </a:r>
          </a:p>
        </p:txBody>
      </p:sp>
      <p:pic>
        <p:nvPicPr>
          <p:cNvPr id="4" name="Imagen 3">
            <a:extLst>
              <a:ext uri="{FF2B5EF4-FFF2-40B4-BE49-F238E27FC236}">
                <a16:creationId xmlns:a16="http://schemas.microsoft.com/office/drawing/2014/main" id="{40B87B7B-771E-CC0D-E4DE-68622594C28F}"/>
              </a:ext>
            </a:extLst>
          </p:cNvPr>
          <p:cNvPicPr>
            <a:picLocks noChangeAspect="1"/>
          </p:cNvPicPr>
          <p:nvPr/>
        </p:nvPicPr>
        <p:blipFill>
          <a:blip r:embed="rId3"/>
          <a:stretch>
            <a:fillRect/>
          </a:stretch>
        </p:blipFill>
        <p:spPr>
          <a:xfrm>
            <a:off x="685800" y="1447800"/>
            <a:ext cx="5442842" cy="4800600"/>
          </a:xfrm>
          <a:prstGeom prst="rect">
            <a:avLst/>
          </a:prstGeom>
        </p:spPr>
      </p:pic>
      <p:sp>
        <p:nvSpPr>
          <p:cNvPr id="10" name="CuadroTexto 9">
            <a:extLst>
              <a:ext uri="{FF2B5EF4-FFF2-40B4-BE49-F238E27FC236}">
                <a16:creationId xmlns:a16="http://schemas.microsoft.com/office/drawing/2014/main" id="{B548AE7D-559E-942A-B5EC-F273C121B35D}"/>
              </a:ext>
            </a:extLst>
          </p:cNvPr>
          <p:cNvSpPr txBox="1"/>
          <p:nvPr/>
        </p:nvSpPr>
        <p:spPr>
          <a:xfrm>
            <a:off x="6916134" y="2061111"/>
            <a:ext cx="4593610" cy="2862322"/>
          </a:xfrm>
          <a:prstGeom prst="rect">
            <a:avLst/>
          </a:prstGeom>
          <a:noFill/>
        </p:spPr>
        <p:txBody>
          <a:bodyPr wrap="square">
            <a:spAutoFit/>
          </a:bodyPr>
          <a:lstStyle/>
          <a:p>
            <a:pPr>
              <a:buNone/>
            </a:pPr>
            <a:r>
              <a:rPr lang="es-ES" sz="1200" dirty="0">
                <a:latin typeface="Arial" panose="020B0604020202020204" pitchFamily="34" charset="0"/>
                <a:cs typeface="Arial" panose="020B0604020202020204" pitchFamily="34" charset="0"/>
              </a:rPr>
              <a:t>K = 0.1 y 0.2: Los valles son poco profundos porque entra muy poca luz al anillo. Como las pérdidas de la guía ganan al acoplo, la luz del anillo no tiene suficiente fuerza para cancelar la luz que pasa de largo por el bus.</a:t>
            </a:r>
          </a:p>
          <a:p>
            <a:pPr>
              <a:buNone/>
            </a:pPr>
            <a:endParaRPr lang="es-ES" sz="1200" dirty="0">
              <a:latin typeface="Arial" panose="020B0604020202020204" pitchFamily="34" charset="0"/>
              <a:cs typeface="Arial" panose="020B0604020202020204" pitchFamily="34" charset="0"/>
            </a:endParaRPr>
          </a:p>
          <a:p>
            <a:pPr>
              <a:buNone/>
            </a:pPr>
            <a:r>
              <a:rPr lang="es-ES" sz="1200" dirty="0">
                <a:latin typeface="Arial" panose="020B0604020202020204" pitchFamily="34" charset="0"/>
                <a:cs typeface="Arial" panose="020B0604020202020204" pitchFamily="34" charset="0"/>
              </a:rPr>
              <a:t>Acoplo Crítico (K = 0.3): Es el punto perfecto. El valle toca el cero en lineal (y cae en picado en dB) porque la luz que entra al anillo iguala exactamente a la luz que se pierde por el camino. Al salir, ambas luces se cancelan por completo por interferencia destructiva.</a:t>
            </a:r>
          </a:p>
          <a:p>
            <a:pPr>
              <a:buNone/>
            </a:pPr>
            <a:endParaRPr lang="es-ES" sz="1200" dirty="0">
              <a:latin typeface="Arial" panose="020B0604020202020204" pitchFamily="34" charset="0"/>
              <a:cs typeface="Arial" panose="020B0604020202020204" pitchFamily="34" charset="0"/>
            </a:endParaRPr>
          </a:p>
          <a:p>
            <a:pPr>
              <a:buNone/>
            </a:pPr>
            <a:r>
              <a:rPr lang="es-ES" sz="1200" dirty="0">
                <a:latin typeface="Arial" panose="020B0604020202020204" pitchFamily="34" charset="0"/>
                <a:cs typeface="Arial" panose="020B0604020202020204" pitchFamily="34" charset="0"/>
              </a:rPr>
              <a:t>K ≥ 0.4: A partir de aquí, las curvas se vuelven muy anchas y menos profundas. Como el acoplo es demasiado alto, la luz entra y sale demasiado rápido del anillo, haciendo que el filtro pierda calidad y selectividad.</a:t>
            </a:r>
          </a:p>
        </p:txBody>
      </p:sp>
    </p:spTree>
    <p:extLst>
      <p:ext uri="{BB962C8B-B14F-4D97-AF65-F5344CB8AC3E}">
        <p14:creationId xmlns:p14="http://schemas.microsoft.com/office/powerpoint/2010/main" val="3172087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D44D3-5B72-E416-E0D4-200F5AF444C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C4BEA3C1-5ED7-433A-27DB-D0DF1A0316F7}"/>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1F6E04BD-ED99-A9BE-6A44-ECBA56203530}"/>
              </a:ext>
            </a:extLst>
          </p:cNvPr>
          <p:cNvSpPr>
            <a:spLocks noGrp="1"/>
          </p:cNvSpPr>
          <p:nvPr>
            <p:ph type="sldNum" sz="quarter" idx="7"/>
          </p:nvPr>
        </p:nvSpPr>
        <p:spPr/>
        <p:txBody>
          <a:bodyPr/>
          <a:lstStyle/>
          <a:p>
            <a:fld id="{C2F52289-4012-4053-9770-FE82CEB9514F}" type="slidenum">
              <a:rPr lang="en-US" smtClean="0"/>
              <a:pPr/>
              <a:t>10</a:t>
            </a:fld>
            <a:endParaRPr lang="en-US" dirty="0"/>
          </a:p>
        </p:txBody>
      </p:sp>
      <p:pic>
        <p:nvPicPr>
          <p:cNvPr id="17" name="Gráfico 16">
            <a:extLst>
              <a:ext uri="{FF2B5EF4-FFF2-40B4-BE49-F238E27FC236}">
                <a16:creationId xmlns:a16="http://schemas.microsoft.com/office/drawing/2014/main" id="{B95E6D8F-5D4D-9B31-7E7B-780C052F15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25FDAAC6-2C09-AF44-C59A-9A370930D5CF}"/>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#6b – E</a:t>
            </a:r>
            <a:r>
              <a:rPr lang="en-US" sz="2500" dirty="0"/>
              <a:t>ffect of loss</a:t>
            </a:r>
            <a:endParaRPr lang="en-US" sz="2500" kern="0" dirty="0"/>
          </a:p>
          <a:p>
            <a:pPr marL="12700">
              <a:spcBef>
                <a:spcPts val="100"/>
              </a:spcBef>
            </a:pPr>
            <a:r>
              <a:rPr lang="en-US" b="0" kern="0" spc="-5" dirty="0">
                <a:latin typeface="+mj-lt"/>
                <a:cs typeface="Lucida Sans"/>
              </a:rPr>
              <a:t>Change losses value between 0 and 8 </a:t>
            </a:r>
            <a:r>
              <a:rPr lang="en-US" b="0" kern="0" spc="-5" dirty="0">
                <a:solidFill>
                  <a:srgbClr val="FF0000"/>
                </a:solidFill>
                <a:latin typeface="+mj-lt"/>
                <a:cs typeface="Lucida Sans"/>
              </a:rPr>
              <a:t>dB/cm </a:t>
            </a:r>
            <a:r>
              <a:rPr lang="en-US" b="0" kern="0" spc="-5" dirty="0">
                <a:latin typeface="+mj-lt"/>
                <a:cs typeface="Lucida Sans"/>
              </a:rPr>
              <a:t>in steps of 1</a:t>
            </a:r>
          </a:p>
        </p:txBody>
      </p:sp>
      <p:pic>
        <p:nvPicPr>
          <p:cNvPr id="3" name="Imagen 2">
            <a:extLst>
              <a:ext uri="{FF2B5EF4-FFF2-40B4-BE49-F238E27FC236}">
                <a16:creationId xmlns:a16="http://schemas.microsoft.com/office/drawing/2014/main" id="{72048EB5-ECD4-91C6-5819-8058DC18D371}"/>
              </a:ext>
            </a:extLst>
          </p:cNvPr>
          <p:cNvPicPr>
            <a:picLocks noChangeAspect="1"/>
          </p:cNvPicPr>
          <p:nvPr/>
        </p:nvPicPr>
        <p:blipFill>
          <a:blip r:embed="rId3"/>
          <a:stretch>
            <a:fillRect/>
          </a:stretch>
        </p:blipFill>
        <p:spPr>
          <a:xfrm>
            <a:off x="838200" y="1447800"/>
            <a:ext cx="5610225" cy="4349500"/>
          </a:xfrm>
          <a:prstGeom prst="rect">
            <a:avLst/>
          </a:prstGeom>
        </p:spPr>
      </p:pic>
      <p:sp>
        <p:nvSpPr>
          <p:cNvPr id="7" name="CuadroTexto 6">
            <a:extLst>
              <a:ext uri="{FF2B5EF4-FFF2-40B4-BE49-F238E27FC236}">
                <a16:creationId xmlns:a16="http://schemas.microsoft.com/office/drawing/2014/main" id="{6A240259-FDCE-ABA6-9E7A-A59F8056FAC1}"/>
              </a:ext>
            </a:extLst>
          </p:cNvPr>
          <p:cNvSpPr txBox="1"/>
          <p:nvPr/>
        </p:nvSpPr>
        <p:spPr>
          <a:xfrm>
            <a:off x="7520940" y="1981200"/>
            <a:ext cx="3581400" cy="2492990"/>
          </a:xfrm>
          <a:prstGeom prst="rect">
            <a:avLst/>
          </a:prstGeom>
          <a:noFill/>
        </p:spPr>
        <p:txBody>
          <a:bodyPr wrap="square">
            <a:spAutoFit/>
          </a:bodyPr>
          <a:lstStyle/>
          <a:p>
            <a:pPr>
              <a:buNone/>
            </a:pPr>
            <a:r>
              <a:rPr lang="es-ES" sz="1200" dirty="0">
                <a:effectLst/>
                <a:latin typeface="Arial" panose="020B0604020202020204" pitchFamily="34" charset="0"/>
                <a:cs typeface="Arial" panose="020B0604020202020204" pitchFamily="34" charset="0"/>
              </a:rPr>
              <a:t>Se tiene régimen de </a:t>
            </a:r>
            <a:r>
              <a:rPr lang="es-ES" sz="1200" dirty="0" err="1">
                <a:effectLst/>
                <a:latin typeface="Arial" panose="020B0604020202020204" pitchFamily="34" charset="0"/>
                <a:cs typeface="Arial" panose="020B0604020202020204" pitchFamily="34" charset="0"/>
              </a:rPr>
              <a:t>overcoupling</a:t>
            </a:r>
            <a:r>
              <a:rPr lang="es-ES" sz="1200" dirty="0">
                <a:effectLst/>
                <a:latin typeface="Arial" panose="020B0604020202020204" pitchFamily="34" charset="0"/>
                <a:cs typeface="Arial" panose="020B0604020202020204" pitchFamily="34" charset="0"/>
              </a:rPr>
              <a:t> al principio del barrido (</a:t>
            </a:r>
            <a:r>
              <a:rPr lang="es-ES" sz="1200" dirty="0" err="1">
                <a:effectLst/>
                <a:latin typeface="Arial" panose="020B0604020202020204" pitchFamily="34" charset="0"/>
                <a:cs typeface="Arial" panose="020B0604020202020204" pitchFamily="34" charset="0"/>
              </a:rPr>
              <a:t>alpha</a:t>
            </a:r>
            <a:r>
              <a:rPr lang="es-ES" sz="1200" dirty="0">
                <a:effectLst/>
                <a:latin typeface="Arial" panose="020B0604020202020204" pitchFamily="34" charset="0"/>
                <a:cs typeface="Arial" panose="020B0604020202020204" pitchFamily="34" charset="0"/>
              </a:rPr>
              <a:t> = 0) porque el coeficiente de acoplo es muy pequeño.</a:t>
            </a:r>
          </a:p>
          <a:p>
            <a:pPr>
              <a:buNone/>
            </a:pPr>
            <a:endParaRPr lang="es-ES" sz="1200" dirty="0">
              <a:effectLst/>
              <a:latin typeface="Arial" panose="020B0604020202020204" pitchFamily="34" charset="0"/>
              <a:cs typeface="Arial" panose="020B0604020202020204" pitchFamily="34" charset="0"/>
            </a:endParaRPr>
          </a:p>
          <a:p>
            <a:pPr>
              <a:buNone/>
            </a:pPr>
            <a:r>
              <a:rPr lang="es-ES" sz="1200" dirty="0">
                <a:effectLst/>
                <a:latin typeface="Arial" panose="020B0604020202020204" pitchFamily="34" charset="0"/>
                <a:cs typeface="Arial" panose="020B0604020202020204" pitchFamily="34" charset="0"/>
              </a:rPr>
              <a:t>Estamos más cerca del acoplo crítico en los valores de pérdidas más bajos (</a:t>
            </a:r>
            <a:r>
              <a:rPr lang="es-ES" sz="1200" dirty="0" err="1">
                <a:effectLst/>
                <a:latin typeface="Arial" panose="020B0604020202020204" pitchFamily="34" charset="0"/>
                <a:cs typeface="Arial" panose="020B0604020202020204" pitchFamily="34" charset="0"/>
              </a:rPr>
              <a:t>alpha</a:t>
            </a:r>
            <a:r>
              <a:rPr lang="es-ES" sz="1200" dirty="0">
                <a:effectLst/>
                <a:latin typeface="Arial" panose="020B0604020202020204" pitchFamily="34" charset="0"/>
                <a:cs typeface="Arial" panose="020B0604020202020204" pitchFamily="34" charset="0"/>
              </a:rPr>
              <a:t> = 1 o 2 dB/cm).</a:t>
            </a:r>
          </a:p>
          <a:p>
            <a:pPr>
              <a:buNone/>
            </a:pPr>
            <a:endParaRPr lang="es-ES" sz="1200" dirty="0">
              <a:latin typeface="Arial" panose="020B0604020202020204" pitchFamily="34" charset="0"/>
              <a:cs typeface="Arial" panose="020B0604020202020204" pitchFamily="34" charset="0"/>
            </a:endParaRPr>
          </a:p>
          <a:p>
            <a:pPr>
              <a:buNone/>
            </a:pPr>
            <a:r>
              <a:rPr lang="es-ES" sz="1200" dirty="0">
                <a:effectLst/>
                <a:latin typeface="Arial" panose="020B0604020202020204" pitchFamily="34" charset="0"/>
                <a:cs typeface="Arial" panose="020B0604020202020204" pitchFamily="34" charset="0"/>
              </a:rPr>
              <a:t>Al tener un acoplo tan bajo, se necesitan muy pocas pérdidas para igualarlo. A medida que la atenuación sube hasta 8 dB/cm, la potencia interna cae, el valle se vuelve menos profundo en dB y el anillo pasa a estar </a:t>
            </a:r>
            <a:r>
              <a:rPr lang="es-ES" sz="1200" dirty="0" err="1">
                <a:effectLst/>
                <a:latin typeface="Arial" panose="020B0604020202020204" pitchFamily="34" charset="0"/>
                <a:cs typeface="Arial" panose="020B0604020202020204" pitchFamily="34" charset="0"/>
              </a:rPr>
              <a:t>under-coupled</a:t>
            </a:r>
            <a:r>
              <a:rPr lang="es-ES" sz="1200" dirty="0">
                <a:effectLst/>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27616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3776</TotalTime>
  <Words>1614</Words>
  <Application>Microsoft Office PowerPoint</Application>
  <PresentationFormat>Panorámica</PresentationFormat>
  <Paragraphs>147</Paragraphs>
  <Slides>11</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Aptos</vt:lpstr>
      <vt:lpstr>Arial</vt:lpstr>
      <vt:lpstr>Calibri</vt:lpstr>
      <vt:lpstr>Lucida Sans</vt:lpstr>
      <vt:lpstr>Wingdings</vt:lpstr>
      <vt:lpstr>Office Theme</vt:lpstr>
      <vt:lpstr>Presentación de PowerPoint</vt:lpstr>
      <vt:lpstr>Instructions General</vt:lpstr>
      <vt:lpstr>Learning outcome #1a – Perfectly 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Celia de Juan Corresa</cp:lastModifiedBy>
  <cp:revision>25</cp:revision>
  <dcterms:created xsi:type="dcterms:W3CDTF">2025-01-27T02:46:57Z</dcterms:created>
  <dcterms:modified xsi:type="dcterms:W3CDTF">2026-05-28T16:59:22Z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